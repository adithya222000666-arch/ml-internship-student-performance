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MACHINE LEARNING INTERNSHIP CAPSTONE • WEEK 4</a:t>
            </a:r>
          </a:p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</a:defRPr>
            </a:pPr>
            <a:r>
              <a:t>Student Performance Prediction System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End-to-End Supervised ML Pipeline, Flask Web Application, Automated QA Suite &amp; Render Cloud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62895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spcAft>
                <a:spcPts val="400"/>
              </a:spcAft>
              <a:defRPr b="1" sz="1400">
                <a:solidFill>
                  <a:srgbClr val="1E3A8A"/>
                </a:solidFill>
              </a:defRPr>
            </a:pPr>
            <a:r>
              <a:t>Student Presenter: Adithya M.  |  B.Tech Computer Science &amp; Engineering</a:t>
            </a:r>
          </a:p>
          <a:p>
            <a:pPr>
              <a:spcAft>
                <a:spcPts val="400"/>
              </a:spcAft>
              <a:defRPr sz="1100">
                <a:solidFill>
                  <a:srgbClr val="2563EB"/>
                </a:solidFill>
              </a:defRPr>
            </a:pPr>
            <a:r>
              <a:t>Repository: github.com/adithya222000666-arch/ml-internship-student-performance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Academic Evaluation Session: October 2026  |  Final Capstone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Problem Statement: Proactive vs. Reactive Academic Warning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The Traditional Academic Challenge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Conventional student intervention is inherently reactive.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Schools identify struggling students only after midterm marks (G1/G2) or final failures are published.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Late-stage remediation leaves minimal time for effective pedagogical recovery.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High school mathematics failure severely impairs university admission prospects.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The Machine Learning Solution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Eliminate Grade Data Leakage: G1 &amp; G2 are excluded completely to ensure authentic early prediction.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Multi-Factor Profiling: Leverages 30 socio-demographic, familial, and lifestyle indicators.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Advisory Early Warning: Flags students needing mentoring before initial examinations take place.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Decision-Support System: Provides quantifiable estimates (0–20 scale) to guide academic counselors.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Objectives &amp; Engineering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1. ML Engineering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Robust pipeline via Scikit-Learn ColumnTransformer.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Median/mode imputation &amp; standard scaling.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One-hot encoding handling unseen categories.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5-Fold Cross-Validation on training split.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2. Full-Stack App &amp; API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Modern responsive web application in Flask.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All 30 verified non-grade features in UI.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Sample student preset profiles for quick testing.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RESTful API (/health, /predict, /api/schema).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3. QA &amp; Deployment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Automated Pytest suite (16 comprehensive tests).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Edge-case, out-of-range &amp; malformed JSON checks.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Non-retraining runtime guarantee.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Production Gunicorn WSGI for Render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Dataset Architecture &amp; Feature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UCI Student Performance (student-mat.csv)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Origin: Secondary schools in Portugal (Gabriel Pereira &amp; Mousinho da Silveira).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Records: 395 student instances, semicolon-delimited CSV.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Target Variable: Final Mathematics Grade (G3), scale 0–20 (passing score &gt;= 10).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Excluded Features: G1 (First Period) &amp; G2 (Second Period) to prevent data leakage.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Retained Features: Exactly 30 verified operational attributes.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Feature Groups (30 Input Features)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Academic &amp; Schooling (8 features): school, studytime, failures, schoolsup, famsup, paid, higher, absences.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Demographics &amp; Living (8 features): sex, age (15-22), address (Urban/Rural), famsize, Pstatus, guardian, traveltime, reason.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Parental Background (4 features): Medu (0-4), Fedu (0-4), Mjob, Fjob.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Social, Lifestyle &amp; Well-being (10 features): internet, romantic, activities, nursery, famrel (1-5), freetime, goout, Dalc, Walc,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Data Preprocessing: Preventing Data Leakage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Numeric Feature Pipeline (13 Features)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Features: age, Medu, Fedu, traveltime, studytime, failures, famrel, freetime, goout, Dalc, Walc, health, absences.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Step 1: SimpleImputer(strategy='median') - fills missing values using training medians.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Step 2: StandardScaler() - standardizes numeric features (mean = 0, variance = 1).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Leakage Prevention: Preprocessor fitted ONLY on the 80% training partition.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Categorical Feature Pipeline (17 Features)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Features: school, sex, address, famsize, Pstatus, Mjob, Fjob, reason, guardian, schoolsup, famsup, paid, activities, nursery, higher, internet, romantic.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Step 1: SimpleImputer(strategy='most_frequent') - fills missing values with training mode.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Step 2: OneHotEncoder(handle_unknown='ignore', sparse_output=False) - converts nominal categories into binary vectors.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Safety: Unseen categories during live inference are safely zero-filled.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Evaluated Supervised Learning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Linear Regression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Baseline linear model.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Ordinary Least Squares estimation.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Establishes transparent linear benchmark.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Test MAE: 3.3953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Test RMSE: 4.1957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Test R²: 0.1415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Ridge Regression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L2 Regularized linear regression (alpha=1.0).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Penalizes large weights to mitigate multi-collinearity.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Improves linear generalization slightly.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Test MAE: 3.3929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Test RMSE: 4.1934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Test R²: 0.1424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Random Forest (Champion)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Ensemble of 200 decision trees (min_samples_leaf=2).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Captures complex non-linear feature interactions.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Robust against outliers and feature noise.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Test MAE: 3.0364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Test RMSE: 3.8126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Test R²: 0.2911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Model Evaluation &amp; Validation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Reproducible Validation Strategy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80% Training Set (316 samples) / 20% Test Set (79 samples).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Fixed random_state=42 for deterministic reproduction.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5-Fold Cross-Validation on the training partition.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Cross-validation confirms generalization before final test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Key Regression Evaluation Metrics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Mean Absolute Error (MAE): Measures average absolute grade deviation (0–20 scale). Lower is better.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Root Mean Squared Error (RMSE): Penalizes severe deviations quadratically. Lower is better.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Coefficient of Determination (R²): Measures proportion of target variance explained. Higher is better.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Historical Fidelity: Week 4 implementation recomputed and confirmed Week 2 historical baseline metrics exactly.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Actual Experimental Results &amp;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Model Comparison Benchmarks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Random Forest selected as Champion Model.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Lowest Test MAE: 3.0364 (vs. 3.3953 for Linear Regression).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Lowest Test RMSE: 3.8126 (vs. 4.1957 for Linear Regression).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Highest Test R²: 0.2911 (vs. 0.1415 for Linear Regression).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5-Fold CV MAE: 2.9343, CV R²: 0.2036.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Top Predictive Drivers: past failures, school absences, student age, going out with friends, parental education.</a:t>
            </a:r>
          </a:p>
        </p:txBody>
      </p:sp>
      <p:pic>
        <p:nvPicPr>
          <p:cNvPr id="6" name="Picture 5" descr="model_comparis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1. Offline Training Phase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Raw Data Ingestion (student-mat.csv).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Feature Selection (drop G1, G2, G3).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Pipeline fitting via ColumnTransformer.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Model serialization to Joblib artifact.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2. Model Serving Core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Singleton pipeline loading at startup.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Zero-latency memory resident model.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model_metadata.json schema validation.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Immutable inference guarantee (no retraining).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3. Application Presentation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Flask WSGI web application.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Responsive HTML5, modern CSS3 &amp; JS UI.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RESTful JSON API endpoints.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Production deployment via Gunicorn on Render.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Interactive Web Application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Front-End UX &amp; Key Features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Accessible, responsive design tailored for college capstone presentation.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Four logical field groupings covering all 30 input features.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Preset buttons: 'High Performer', 'Average Student', 'At-Risk Student'.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Real-time visual grade gauge (0–20 scale) with performance badges.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Comprehensive advisory disclaimer clarifying statistical estimation.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D97706"/>
                </a:solidFill>
              </a:defRPr>
            </a:pPr>
            <a:r>
              <a:t>UI Verification &amp; Screenshot Placeholder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[SCREENSHOT PLACEHOLDER]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Capture live screenshot of the web form with sample student loaded.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Include prediction results card showing the predicted G3 grade, progress bar, and academic standing category.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File path: week4/templates/index.html &amp; static/css/style.css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RESTful Prediction API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API Endpoints Specification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GET / - Serves interactive web application interface.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GET /health - Returns JSON health status, model readiness, and champion metrics (200 / 503).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GET /api/schema - Exposes all 30 features, data types, and allowed categorical options.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POST /predict - Accepts JSON student attributes; returns predicted grade, category, and disclaimer.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Robust Input Validation &amp; Error Handling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Rejects missing attributes with detailed missing field names (400 Bad Request).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Enforces numeric types and valid numerical ranges (e.g. age: 15–22).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Rejects non-finite values (NaN, Infinity).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Rejects unrecognized categorical inputs.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Never retrains the model during request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Model Serialization &amp; Inference Decoupling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Serialized Pipeline Artifact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Artifact: student_performance_pipeline.joblib (2.45 MB).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Encapsulates both preprocessing (ColumnTransformer) and champion estimator (RandomForestRegressor).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Guarantees that raw incoming JSON data is transformed identically to training data.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Single-file deployment artifact with zero external database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Schema Metadata Specification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Metadata: model_metadata.json (9.7 KB).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Preserves exact feature ordering (30 features).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Documents numerical ranges (min, max, median defaults).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Documents allowed categorical string values.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Stores champion benchmark metrics for the /health endpoint.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Automated QA &amp; Pytest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Pytest Test Suite (week4/tests/test_app.py)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16 Comprehensive Automated Tests: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• Model artifact loading &amp; health readiness.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• Standard JSON prediction request &amp; schema conformance.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• Form-encoded POST submission support.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• Missing required fields validation (400).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• Invalid numeric types &amp; out-of-range bounds.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• Non-finite numeric rejection (NaN / Inf).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• Invalid category rejection &amp; malformed JSON syntax.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• Output bounding guarantee (0–20 scale).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• Non-retraining model invariance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Execution Results &amp; Evidence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Test Status: 16 passed in 2.08 seconds (100% Pass Rate).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[SCREENSHOT PLACEHOLDER]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Capture terminal output of 'pytest week4/tests -v' demonstrating all 16 tests passing.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Confirms enterprise-grade robustness before cloud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Cloud Deployment Strategy for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Render Production Configuration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WSGI Server: Gunicorn multi-worker HTTP server.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Procfile: web: gunicorn app:app --bind 0.0.0.0:$PORT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Runtime: Python 3.11.9 (configured via runtime.txt).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Blueprint: render.yaml with rootDir: week4.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Path Resolution: Relative via Path(__file__).resolve().parent (no Windows path lock-in).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Deployment Verification Checklist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1. Push repository changes to GitHub main branch.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2. Connect repository to Render Web Service dashboard.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3. Set Root Directory to week4 and branch to main.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4. Set Build Command: pip install -r requirements.txt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5. Set Start Command: gunicorn app:app --bind 0.0.0.0:$PORT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6. Verify live health check: https://&lt;app&gt;.onrender.com/health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[SCREENSHOT PLACEHOLDER: Insert Render Dashboard Screenshot]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Model Limitations &amp; Ethical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Technical &amp; Statistical Limitations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Non-Grade Signal: Excluding G1 and G2 limits R² to ~0.29. This is an intentional tradeoff to prioritize early warning capability.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Sample Size: 395 records from two regional secondary schools; findings should be generalized cautiously.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Static Survey Data: Does not capture longitudinal attendance fluctuations or mid-semester interventions.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Ethical &amp; Educational Principles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Advisory Instrument Only: Must never be used to deny academic opportunities, streaming, or funding.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Demographic Fairness: Socio-demographic factors reflect cohort patterns and must not pigeonhole individual students.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Human-in-the-Loop: Supports educators and academic counselors—does not replace empathetic mentorship.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Conclusion &amp; Future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Capstone Accomplishments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Complete, production-ready ML system built and verified.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Reproduced Week 2 benchmark results with mathematical precision.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Serialized pipeline artifact with zero data leakage.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Responsive, modern Flask web application.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Robust RESTful JSON prediction API.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16-test automated Pytest suite (100% pass rate).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Production-ready deployment configuration for Render.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1E3A8A"/>
                </a:solidFill>
              </a:defRPr>
            </a:pPr>
            <a:r>
              <a:t>Future Engineering Roadmap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Explainable AI (SHAP / LIME): Provide personalized visual explanations for each student's risk factors.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Prescriptive Recommendations: Suggest actionable study plans based on predicted outcomes.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 School Information System (SIS) Integration: Automated batch ingestion of semester attendance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